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presProps" Target="presProps.xml"  /><Relationship Id="rId28" Type="http://schemas.openxmlformats.org/officeDocument/2006/relationships/viewProps" Target="viewProps.xml"  /><Relationship Id="rId29" Type="http://schemas.openxmlformats.org/officeDocument/2006/relationships/theme" Target="theme/theme1.xml"  /><Relationship Id="rId3" Type="http://schemas.openxmlformats.org/officeDocument/2006/relationships/slide" Target="slides/slide1.xml"  /><Relationship Id="rId30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0F89C1C7-3DCD-1040-A9CF-14679D8B5DDD}" type="datetime1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2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3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4.xml"  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주제와 분석 흐름 소개. 수업에서 배운 순서(수집 설계 → 진단 → 정제 → 기술통계)를 그대로 따랐고, 마지막에 SHAP으로 모델을 해석했다.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HEA는 여러 원소를 비슷한 비율로 섞은 합금. 상(결정 구조)이 성질을 좌우하는데, 확인하려면 실험이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갈림길 1: 고르게 섞이나(ΔHmix, δ, Δχ, ΔSmix, 원소 개수). 갈림길 2: 고용체라면 FCC냐 BCC냐(VEC). 마지막에 SHAP으로 모델이 이 구조를 배웠는지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2주차: 데이터를 찾기 전에 질문을 고정하고, 말을 숫자로 바꾸는 조작적 정의를 먼저 적었다. 관측 단위는 조성 1종.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3주차: 진단과 처리를 분리. 이 표는 아무것도 고치지 않은 상태에서 본 결과다.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빈칸은 '처리 안 함', 같은 이름은 진짜 중복이 아닐 수 있음, 이상치는 원본(합금 이름)으로 되짚어 오류인지 확인한 뒤 결정.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이름과 조성 열이 다른 54행에서, 정리자가 계산해 넣은 VEC·ΔSmix는 52행이 이름과 일치했다. 조성 열에 옮겨 적기 실수가 있었던 것. 조성 열로 고쳤다면 맞는 값을 틀린 값으로 바꿨을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VEC는 원소별 가전자 수를 비율로 가중 평균한 값. ΔSmix는 비율만으로 계산되는 섞임의 무질서도로, 원소 고유값이 없어서 조성 검증의 열쇠로 썼다. 예시는 Al2CoCrFeNi.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규칙 9개를 순서대로. 회색은 행을 지우지 않은 결정. 라벨 충돌 규칙은 정확도를 4%p 바꾸므로 한계로 함께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4주차 보고 규칙: 평균 옆에 중앙값·표준편차·n. 평균과 중앙값이 다르면 그 차이가 보고 내용.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VEC는 봉우리가 둘. 평균 6.09 자리에는 합금이 거의 없다 = 평균이 빈자리를 가리킨다. 두 집단이 섞인 신호라 상별로 쪼갠다.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쪼갠 뒤 각 상의 표준편차가 0.5~1.0으로 줄었다. 금속간화합물만 VEC로 안 갈리고 ΔHmix가 가장 음수.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Guo &amp; Liu의 고용체 영역 안에 금속간화합물도 41%가 들어온다. 규칙 하나로는 부족해서 여러 변수를 함께 쓰는 모델로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 보는 합금으로 시험해야 진짜 실력. 한 번만 나누면 운이 끼므로 5조각으로 돌아가며 시험하고 평균을 낸다. 층화는 조각마다 상 비율을 같게 맞추는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BCC가 51%라 전부 BCC라고 찍어도 51%. 그래서 정확도만이 아니라 상마다 고르게 맞혔는지 보는 Macro F1을 같이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R²는 회귀용. 분류에는 McFadden 의사 R² = 1 − 모델 로그손실 / 비율대로 찍기의 로그손실. 0.2~0.4만 돼도 좋은 편. 부스팅은 정확도는 높아도 틀릴 때 과신해서 R²가 낮다.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행이 실제, 열이 예측. 대각선이 맞힌 것. 재현율은 행 방향, 정밀도는 열 방향으로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2상은 22종뿐이라 배울 예가 적고, 틀린 것의 대부분은 금속간화합물로 갔다. 순열 중요도는 VEC가 압도적.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팀 프로젝트 점수를 팀원 기여도로 나누듯, 예측 확률을 변수별 몫으로 나눈다. +면 그 상 쪽, −면 반대. 순열 중요도와 순위를 교차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VEC가 7.3 위면 FCC 쪽, 6.9 위면 BCC 반대쪽 — 문헌 경계 6.87과 거의 같다. ΔHmix가 −7보다 음수면 금속간화합물 쪽. SHAP과 순열 중요도 순위가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VEC만 보면 BCC가 아니지만, Al이 커서 원자 크기 차이가 6.24%로 크고 이게 BCC 쪽으로 더 세게 밀었다. VEC 규칙의 예외를 모델은 δ로 잡아냈다.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SMOTE를 먼저 하고 나누면 시험 조각에 가짜 샘플이 섞여 89%. 올바르게 하면 83%. 평균 대치가 표준편차를 줄이는 것과 같은 구조.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발견: 약 83%, VEC가 FCC/BCC, ΔHmix가 금속간화합물, Al 예외는 δ. 한계: 출판 편향, 쉬운 문제 편향(4%p), 주조 직후만, ΔHmix·δ 미검증.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AI에게는 코드와 계산을 맡기고, 질문·정의·검증은 직접 했다. 수업의 3단 루프(질문 → 명세 → 검증).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5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4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8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9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0.jpe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9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0.xml"  /><Relationship Id="rId3" Type="http://schemas.openxmlformats.org/officeDocument/2006/relationships/image" Target="../media/image1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1.xml"  /><Relationship Id="rId3" Type="http://schemas.openxmlformats.org/officeDocument/2006/relationships/image" Target="../media/image14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2.xml"  /><Relationship Id="rId3" Type="http://schemas.openxmlformats.org/officeDocument/2006/relationships/image" Target="../media/image15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7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4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515600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EC5F4"/>
                </a:solidFill>
                <a:latin typeface="맑은 고딕"/>
                <a:ea typeface="맑은 고딕"/>
                <a:cs typeface="맑은 고딕"/>
              </a:rPr>
              <a:t>데이터리터러시의이해 · 데이터 분석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고엔트로피합금의 결정 구조,</a:t>
            </a:r>
          </a:p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데이터로 예측할 수 있을까?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33272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DE2FB"/>
                </a:solidFill>
                <a:latin typeface="맑은 고딕"/>
                <a:ea typeface="맑은 고딕"/>
                <a:cs typeface="맑은 고딕"/>
              </a:rPr>
              <a:t>원자료 1,361행을 진단·검증·정제해 합금 258종으로 만들고, 기술통계와 머신러닝으로 상(Phase)을 분류하다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754880"/>
            <a:ext cx="1481328" cy="512064"/>
          </a:xfrm>
          <a:prstGeom prst="roundRect">
            <a:avLst>
              <a:gd name="adj" fmla="val 8000"/>
            </a:avLst>
          </a:prstGeom>
          <a:solidFill>
            <a:srgbClr val="1C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1206" bIns="51206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5456" y="4754880"/>
            <a:ext cx="1481328" cy="512064"/>
          </a:xfrm>
          <a:prstGeom prst="roundRect">
            <a:avLst>
              <a:gd name="adj" fmla="val 8000"/>
            </a:avLst>
          </a:prstGeom>
          <a:solidFill>
            <a:srgbClr val="1C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1206" bIns="51206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7952" y="4754880"/>
            <a:ext cx="1481328" cy="512064"/>
          </a:xfrm>
          <a:prstGeom prst="roundRect">
            <a:avLst>
              <a:gd name="adj" fmla="val 8000"/>
            </a:avLst>
          </a:prstGeom>
          <a:solidFill>
            <a:srgbClr val="1C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1206" bIns="51206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정제 로그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70448" y="4754880"/>
            <a:ext cx="1481328" cy="512064"/>
          </a:xfrm>
          <a:prstGeom prst="roundRect">
            <a:avLst>
              <a:gd name="adj" fmla="val 8000"/>
            </a:avLst>
          </a:prstGeom>
          <a:solidFill>
            <a:srgbClr val="1C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1206" bIns="51206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기술통계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52944" y="4754880"/>
            <a:ext cx="1481328" cy="512064"/>
          </a:xfrm>
          <a:prstGeom prst="roundRect">
            <a:avLst>
              <a:gd name="adj" fmla="val 8000"/>
            </a:avLst>
          </a:prstGeom>
          <a:solidFill>
            <a:srgbClr val="1C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1206" bIns="51206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예측 모델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4754880"/>
            <a:ext cx="1481328" cy="512064"/>
          </a:xfrm>
          <a:prstGeom prst="roundRect">
            <a:avLst>
              <a:gd name="adj" fmla="val 8000"/>
            </a:avLst>
          </a:prstGeom>
          <a:solidFill>
            <a:srgbClr val="1C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1206" bIns="51206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해석(SHAP)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C5F4"/>
                </a:solidFill>
                <a:latin typeface="맑은 고딕"/>
                <a:ea typeface="맑은 고딕"/>
                <a:cs typeface="맑은 고딕"/>
              </a:rPr>
              <a:t>데이터: Machaka (2021), Data in Brief 38, 107346 · 분석: Python + Claude Code(AI 에이전트)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배경과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고엔트로피합금(HEA)과 ‘상’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94960" cy="4480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37744" indent="-237744">
              <a:spcAft>
                <a:spcPts val="1000"/>
              </a:spcAft>
              <a:buClr>
                <a:srgbClr val="2A78D6"/>
              </a:buClr>
              <a:buChar char="•"/>
            </a:pPr>
            <a:r>
              <a:rPr sz="18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기존 강철: </a:t>
            </a:r>
            <a:r>
              <a:rPr sz="18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철(Fe) 하나가 주원소</a:t>
            </a:r>
            <a:r>
              <a:rPr sz="18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, 나머지는 소량 첨가</a:t>
            </a:r>
          </a:p>
          <a:p>
            <a:pPr algn="l" marL="237744" indent="-237744">
              <a:spcAft>
                <a:spcPts val="1000"/>
              </a:spcAft>
              <a:buClr>
                <a:srgbClr val="2A78D6"/>
              </a:buClr>
              <a:buChar char="•"/>
            </a:pPr>
            <a:r>
              <a:rPr sz="18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HEA: </a:t>
            </a:r>
            <a:r>
              <a:rPr sz="18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4~5종 이상의 원소를 비슷한 비율</a:t>
            </a:r>
            <a:r>
              <a:rPr sz="18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로 섞은 합금 (예: CoCrFeMnNi)</a:t>
            </a:r>
          </a:p>
          <a:p>
            <a:pPr algn="l" marL="237744" indent="-237744">
              <a:spcAft>
                <a:spcPts val="400"/>
              </a:spcAft>
              <a:buClr>
                <a:srgbClr val="2A78D6"/>
              </a:buClr>
              <a:buChar char="•"/>
            </a:pPr>
            <a:r>
              <a:rPr sz="18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성질을 좌우하는 것은 </a:t>
            </a:r>
            <a:r>
              <a:rPr sz="18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결정 구조(상)</a:t>
            </a:r>
          </a:p>
          <a:p>
            <a:pPr algn="l" marL="237744">
              <a:spcAft>
                <a:spcPts val="20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BCC: 단단하지만 깨지기 쉬움</a:t>
            </a:r>
          </a:p>
          <a:p>
            <a:pPr algn="l" marL="237744">
              <a:spcAft>
                <a:spcPts val="20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FCC: 잘 늘어나고 질김</a:t>
            </a:r>
          </a:p>
          <a:p>
            <a:pPr algn="l" marL="237744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금속간화합물(Im): 매우 단단하지만 취성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95950" y="250767"/>
            <a:ext cx="5333695" cy="114300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anchor="ctr"/>
          <a:lstStyle/>
          <a:p>
            <a:pPr lvl="0" algn="l">
              <a:spcAft>
                <a:spcPts val="600"/>
              </a:spcAft>
              <a:defRPr/>
            </a:pPr>
            <a:r>
              <a:rPr sz="16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문제:</a:t>
            </a:r>
            <a:r>
              <a:rPr sz="16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새 합금의 상을 확인하려면 용해·주조·X선 회절 분석까지 실험이 필요하다.</a:t>
            </a:r>
            <a:endParaRPr sz="1600" b="0">
              <a:solidFill>
                <a:srgbClr val="52514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95950" y="1576647"/>
            <a:ext cx="5333695" cy="114300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anchor="ctr"/>
          <a:lstStyle/>
          <a:p>
            <a:pPr lvl="0" algn="l">
              <a:spcAft>
                <a:spcPts val="600"/>
              </a:spcAft>
              <a:defRPr/>
            </a:pPr>
            <a:r>
              <a:rPr sz="16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분석 질문:</a:t>
            </a:r>
            <a:r>
              <a:rPr sz="16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조성에서 계산되는 열역학 변수만으로, 실험 전에 주조 직후의 상을 맞힐 수 있는가?</a:t>
            </a:r>
            <a:endParaRPr sz="1600" b="0">
              <a:solidFill>
                <a:srgbClr val="52514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95950" y="2902527"/>
            <a:ext cx="5333695" cy="141732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anchor="ctr"/>
          <a:lstStyle/>
          <a:p>
            <a:pPr lvl="0" algn="l">
              <a:spcAft>
                <a:spcPts val="600"/>
              </a:spcAft>
              <a:defRPr/>
            </a:pPr>
            <a:r>
              <a:rPr sz="16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하위 질문:</a:t>
            </a:r>
            <a:r>
              <a:rPr sz="16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① 상마다 변수 분포가 어떻게 다른가(기술통계)  ② 어느 변수가 어느 방향으로 작용하나(SHAP)  ③ 단순 규칙보다 나은가</a:t>
            </a:r>
            <a:endParaRPr sz="1600" b="0">
              <a:solidFill>
                <a:srgbClr val="52514e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8640" y="4613148"/>
            <a:ext cx="3049924" cy="182995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375855" y="4451800"/>
            <a:ext cx="3810000" cy="21526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875615" y="4678426"/>
            <a:ext cx="2717912" cy="1823409"/>
          </a:xfrm>
          <a:prstGeom prst="rect">
            <a:avLst/>
          </a:prstGeom>
        </p:spPr>
      </p:pic>
      <p:sp>
        <p:nvSpPr>
          <p:cNvPr id="12" name="가로 글상자 11"/>
          <p:cNvSpPr txBox="1"/>
          <p:nvPr/>
        </p:nvSpPr>
        <p:spPr>
          <a:xfrm>
            <a:off x="4214176" y="6565654"/>
            <a:ext cx="2261370" cy="292608"/>
          </a:xfrm>
          <a:prstGeom prst="rect">
            <a:avLst/>
          </a:prstGeom>
        </p:spPr>
        <p:txBody>
          <a:bodyPr wrap="none"/>
          <a:p>
            <a:pPr lvl="0">
              <a:defRPr/>
            </a:pPr>
            <a:r>
              <a:rPr lang="ko-KR" altLang="en-US" sz="1000"/>
              <a:t>여러 상이 섞인 고엔트로피합금의 예시</a:t>
            </a:r>
            <a:endParaRPr lang="ko-KR" alt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배경 · 변수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상은 두 번의 갈림길에서 정해진다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pic>
        <p:nvPicPr>
          <p:cNvPr id="5" name="Picture 4" descr="phase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73054"/>
            <a:ext cx="6949440" cy="418621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26679" y="1371600"/>
          <a:ext cx="3916374" cy="28163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01021"/>
                <a:gridCol w="2715353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변수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쉬운 뜻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원자당 가전자 수 (접착제 양)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ΔHmix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원소끼리의 친밀도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원자 크기의 제각각 정도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 끌어당기는 힘의 차이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ΔSmix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섞임의 무질서도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원소 개수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섞인 원소 종류 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4434840"/>
            <a:ext cx="3916375" cy="86868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이 그림이 맞는지 마지막에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SHAP으로 확인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한다.</a:t>
            </a: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수집 설계   ·   2주차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질문 → 조작적 정의 → 변수 → 출처, 이 순서로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02153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2412" bIns="102412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질문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상을 맞힐 수 있나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열역학 변수 → 주조 직후의 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9393" y="1371600"/>
            <a:ext cx="2602153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2412" bIns="102412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조작적 정의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말을 숫자로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HEA = ΔSmix ≥ 1R (8.31 J/K·mol)
상 = 주조 직후 X선 회절로 관측한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371600"/>
            <a:ext cx="2602153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2412" bIns="102412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관측 단위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한 행 = 조성 1종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이름 표기가 달라도 조성이 같으면 하나로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0901" y="1371600"/>
            <a:ext cx="2602153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2412" bIns="102412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논문 공개 데이터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Machaka(2021) 부록 CSV
문헌 실험 결과를 모은 2차 데이터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383280"/>
          <a:ext cx="6766560" cy="16824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1554480"/>
                <a:gridCol w="28346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변수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척도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평균을 낼 수 있나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 (Phases)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범주형 · 명목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B444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불가</a:t>
                      </a:r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빈도·비율로만 요약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원소 개수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수치형 · 이산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0063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</a:t>
                      </a:r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정수값, 최빈값도 함께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VEC, δ, Δχ, ΔHmix, ΔSmix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수치형 · 연속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0063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</a:t>
                      </a:r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분포를 보고 판단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3383280"/>
            <a:ext cx="4007815" cy="1682496"/>
          </a:xfrm>
          <a:prstGeom prst="roundRect">
            <a:avLst>
              <a:gd name="adj" fmla="val 8000"/>
            </a:avLst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anchor="ctr"/>
          <a:lstStyle/>
          <a:p>
            <a:pPr lvl="0" algn="l">
              <a:spcAft>
                <a:spcPts val="600"/>
              </a:spcAft>
              <a:defRPr/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프롬프팅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참고한 Kaggle 데이터는 비공개였다. AI의 말을 믿지 않고 원 논문의 부록 파일을 </a:t>
            </a:r>
            <a:r>
              <a:rPr sz="1500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직접 내려받아</a:t>
            </a:r>
            <a:r>
              <a:rPr sz="150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1,361행 × 53열을 눈으로 확인했다.</a:t>
            </a:r>
            <a:endParaRPr sz="1500" b="0">
              <a:solidFill>
                <a:srgbClr val="52514e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데이터 진단   ·   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고치기 전에 먼저 본다 — 진단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7589520" cy="4096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83080"/>
                <a:gridCol w="1280160"/>
                <a:gridCol w="452628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항목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인코딩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UTF-8 실패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cp1252</a:t>
                      </a:r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 지정해 해결 (‘10°C/min’ 기호가 원인)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완전히 같은 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복사·붙여넣기 중복은 없음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합금 이름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890행 반복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열처리·논문만 다른 기록 → 지우면 안 되는 중복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표기만 다른 조성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AlCrFeCoNi = AlCoCrFeNi. 글자 비교로는 못 잡음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열처리 열 결측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758~1,305행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빈칸 = ‘처리하지 않음’. </a:t>
                      </a:r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이유가 있는 빈칸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 라벨 충돌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조성인데 논문마다 상이 다름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이름과 안 맞는 값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60건·39행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VEC 38·Δχ 22건 오타 / 39행은 다른 조성으로 계산됨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0" y="1371600"/>
            <a:ext cx="3230575" cy="1920240"/>
          </a:xfrm>
          <a:prstGeom prst="roundRect">
            <a:avLst>
              <a:gd name="adj" fmla="val 8000"/>
            </a:avLst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anchor="ctr"/>
          <a:lstStyle/>
          <a:p>
            <a:pPr lvl="0" algn="l">
              <a:spcAft>
                <a:spcPts val="600"/>
              </a:spcAft>
              <a:defRPr/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AI 함정 </a:t>
            </a:r>
            <a:r>
              <a:rPr lang="ko-KR" altLang="en-US"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프롬프팅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“정제해줘”가 아니라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“문제를 보고만 하고 아무것도 고치지 마”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로 시켰다.</a:t>
            </a:r>
            <a:endParaRPr sz="1500" b="0">
              <a:solidFill>
                <a:srgbClr val="52514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412480" y="3520440"/>
            <a:ext cx="3230575" cy="155448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처리 방법은 이 표를 본 뒤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분석 전에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정하고, 정제 로그에 모두 적었다.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정제 판단   ·   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지울 것인가, 고칠 것인가 — 세 가지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15258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2412" bIns="102412" wrap="square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① 빈칸에도 이유가 있다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열처리 온도가 빈 칸은 ‘모름’이 아니라 </a:t>
            </a:r>
            <a:r>
              <a:rPr sz="135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‘열처리를 안 함’</a:t>
            </a: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. 같은 합금도 열처리하면 상이 바뀐다(두 상태가 다 있는 49종 중 22종).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→ 채우지 않고, 빈칸인 행(= 주조 직후)만 골라 조건 통일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8218" y="1371600"/>
            <a:ext cx="3515258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2412" bIns="102412" wrap="square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② 중복처럼 보이는 것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AlCoCrFeNi는 논문마다 </a:t>
            </a:r>
            <a:r>
              <a:rPr sz="135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BCC</a:t>
            </a: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이기도, </a:t>
            </a:r>
            <a:r>
              <a:rPr sz="135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금속간화합물</a:t>
            </a: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이기도 했다. 이전 코드는 ‘첫 행만 남기기’라 행 순서가 정답을 정했다.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→ 라벨 충돌 15종은 </a:t>
            </a:r>
            <a:r>
              <a:rPr sz="135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제외</a:t>
            </a:r>
            <a:r>
              <a:rPr sz="135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, 같은 조성은 표기가 달라도 </a:t>
            </a:r>
            <a:r>
              <a:rPr sz="135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하나로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796" y="1371600"/>
            <a:ext cx="3515258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2412" bIns="102412" wrap="square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③ 원본(이름)으로 되짚기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이름으로 VEC·Δχ·ΔSmix를 다시 계산. ΔSmix가 맞으면 </a:t>
            </a:r>
            <a:r>
              <a:rPr sz="135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값만 오타</a:t>
            </a: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→ 교정(VEC 38, Δχ 22. 예: TiZrNbTa Δχ 3.92 → 0.10). ΔSmix도 틀리면 </a:t>
            </a:r>
            <a:r>
              <a:rPr sz="135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조성 자체가 틀림</a:t>
            </a: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→ 제외(39행).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→ 극단값(δ 16.9%, ΔHmix –39)은 이름과 일치 → 그대로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표기가 애매해 검증 못 한 17행(예: NbTaTi30Zr)은 원본 값을 그대로 두었다 —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고치지 않기로 한 결정도 기록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정제 판단 · 검증 기준   ·   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조성 열이 아니라 ‘합금 이름’을 기준으로 삼은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463040"/>
            <a:ext cx="4297679" cy="822960"/>
          </a:xfrm>
          <a:prstGeom prst="roundRect">
            <a:avLst>
              <a:gd name="adj" fmla="val 8000"/>
            </a:avLst>
          </a:prstGeom>
          <a:solidFill>
            <a:srgbClr val="12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7" bIns="64007" wrap="square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9EC5F4"/>
                </a:solidFill>
                <a:latin typeface="맑은 고딕"/>
                <a:ea typeface="맑은 고딕"/>
                <a:cs typeface="맑은 고딕"/>
              </a:rPr>
              <a:t>원본 · 논문 저자가 보고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합금 이름 “Al2CoCrFeNi”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788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↓ 정리자가 </a:t>
            </a: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7" bIns="64007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VEC 6.50 · ΔSmix 12.98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06300"/>
                </a:solidFill>
                <a:latin typeface="맑은 고딕"/>
                <a:ea typeface="맑은 고딕"/>
                <a:cs typeface="맑은 고딕"/>
              </a:rPr>
              <a:t>이름과 일치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377440"/>
            <a:ext cx="2788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↓ 정리자가 </a:t>
            </a: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옮겨 적음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78892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7" bIns="64007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조성 열: Al 비율 오기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B4441A"/>
                </a:solidFill>
                <a:latin typeface="맑은 고딕"/>
                <a:ea typeface="맑은 고딕"/>
                <a:cs typeface="맑은 고딕"/>
              </a:rPr>
              <a:t>이 비율로 계산하면 VEC 8.00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5760720" cy="1325880"/>
          </a:xfrm>
          <a:prstGeom prst="roundRect">
            <a:avLst>
              <a:gd name="adj" fmla="val 8000"/>
            </a:avLst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조성 열도 이름에서 옮겨 적은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2차 값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이다. 조성 열로 ‘교정’했다면 맞는 VEC 6.50을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틀린 8.00으로 바꿨을 것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— 6.5는 BCC 쪽, 8.0은 FCC 경계다.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371600"/>
            <a:ext cx="2392527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1,289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이름 = 조성 열 (96%)
어느 쪽을 써도 같다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0527" y="1371600"/>
            <a:ext cx="2392527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이름 ≠ 조성 열
누가 맞는지가 중요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70048"/>
            <a:ext cx="496793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54행에서, 정리자가 계산해 넣은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VEC·ΔSmix는 어느 쪽 조성과 맞았나?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675120" y="3337560"/>
          <a:ext cx="4967935" cy="13898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548525"/>
                <a:gridCol w="141941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일치하는 쪽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 수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합금 이름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조성 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둘 다 아님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675120" y="4937760"/>
            <a:ext cx="4967935" cy="96012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정리자는 </a:t>
            </a:r>
            <a:r>
              <a:rPr sz="135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이름 기준의 올바른 조성</a:t>
            </a: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으로 계산했고, 실수는 조성 열을 옮겨 적을 때 생겼다 → </a:t>
            </a:r>
            <a:r>
              <a:rPr sz="135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이름을 기준</a:t>
            </a: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으로 검증.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44768"/>
            <a:ext cx="9997135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이름을 해석할 수 있는 1,343행 기준. 표기가 애매한 17행(예: NbTaTi30Zr)은 추측하지 않고 원본 값을 그대로 두었다.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계산 공식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이름으로 계산한 두 공식 — VEC와 ΔSmix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5364327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VEC (가전자 농도) — 원자당 평균 가전자 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55648"/>
            <a:ext cx="5364327" cy="54864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1206" bIns="51206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VEC = Σ c</a:t>
            </a:r>
            <a:r>
              <a:rPr sz="1800" b="1" baseline="-25000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i</a:t>
            </a:r>
            <a:r>
              <a:rPr sz="18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 × VEC</a:t>
            </a:r>
            <a:r>
              <a:rPr sz="1800" b="1" baseline="-25000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423160"/>
          <a:ext cx="5364326" cy="21762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5281"/>
                <a:gridCol w="1421317"/>
                <a:gridCol w="1604713"/>
                <a:gridCol w="1513015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원소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비율 c</a:t>
                      </a:r>
                      <a:r>
                        <a:rPr sz="1100" b="1" baseline="-2500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가전자 수 VEC</a:t>
                      </a:r>
                      <a:r>
                        <a:rPr sz="1100" b="1" baseline="-2500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</a:t>
                      </a:r>
                      <a:r>
                        <a:rPr sz="1100" b="1" baseline="-2500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</a:t>
                      </a:r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× VEC</a:t>
                      </a:r>
                      <a:r>
                        <a:rPr sz="1100" b="1" baseline="-2500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2/6 = 0.333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1/6 = 0.167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VEC = 6.50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63440"/>
            <a:ext cx="5364327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가전자 수 = 주기율표 족 번호 (Al 3, Ti 4, Nb 5, Cr 6, Mn 7, Fe 8, Co 9, Ni 10, Cu 11). 6.50 &lt; 6.87 → BCC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298448"/>
            <a:ext cx="5364327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ΔSmix (혼합 엔트로피) — 섞임의 무질서도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55648"/>
            <a:ext cx="5364327" cy="54864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1206" bIns="51206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ΔSmix = –R × Σ c</a:t>
            </a:r>
            <a:r>
              <a:rPr sz="1800" b="1" baseline="-25000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i</a:t>
            </a:r>
            <a:r>
              <a:rPr sz="18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 ln c</a:t>
            </a:r>
            <a:r>
              <a:rPr sz="1800" b="1" baseline="-25000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i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78727" y="2423160"/>
          <a:ext cx="5364326" cy="21762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5281"/>
                <a:gridCol w="1421317"/>
                <a:gridCol w="1604713"/>
                <a:gridCol w="1513015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원소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비율 c</a:t>
                      </a:r>
                      <a:r>
                        <a:rPr sz="1100" b="1" baseline="-2500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ln c</a:t>
                      </a:r>
                      <a:r>
                        <a:rPr sz="1100" b="1" baseline="-2500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</a:t>
                      </a:r>
                      <a:r>
                        <a:rPr sz="1100" b="1" baseline="-2500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</a:t>
                      </a:r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× ln c</a:t>
                      </a:r>
                      <a:r>
                        <a:rPr sz="1100" b="1" baseline="-2500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–1.099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–0.366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–1.792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–0.299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–1.792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–0.299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–1.792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–0.299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–1.792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–0.299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–1.561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78727" y="4663440"/>
            <a:ext cx="5364327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R = 8.314 J/(K·mol) → ΔSmix = –8.314 × (–1.561) = </a:t>
            </a:r>
            <a:r>
              <a:rPr sz="12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12.98 J/(K·mol)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49240"/>
            <a:ext cx="5364327" cy="77724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같은 비율로 n개 원소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→ ΔSmix = R ln n. 3원소 9.13 · 4원소 11.53 · 5원소 13.38 · 6원소 14.90 (히스토그램의 봉우리)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5349240"/>
            <a:ext cx="5364327" cy="777240"/>
          </a:xfrm>
          <a:prstGeom prst="roundRect">
            <a:avLst>
              <a:gd name="adj" fmla="val 8000"/>
            </a:avLst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ΔSmix에는 원소 고유값이 없다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→ 비율만 맞으면 반드시 같은 값 → ‘조성을 제대로 썼나’를 가리는 </a:t>
            </a: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검증의 열쇠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54496"/>
            <a:ext cx="9997135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예시: Al2CoCrFeNi (Al 2 : Co 1 : Cr 1 : Fe 1 : Ni 1, 합계 6). c</a:t>
            </a:r>
            <a:r>
              <a:rPr sz="1100" b="0" baseline="-2500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i</a:t>
            </a: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 = 원소 i의 몰 비율(모두 더하면 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정제 로그   ·   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1,361행 → 258종: 모든 규칙과 행 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7680960" cy="4206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"/>
                <a:gridCol w="2103120"/>
                <a:gridCol w="777240"/>
                <a:gridCol w="777240"/>
                <a:gridCol w="36576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이유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빈 행 제외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1,361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CSV 끝의 빈 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이름으로 VEC·Δχ 교정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오타 60건, 행 유지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잘못된 조성 행 제외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ΔSmix까지 이름과 다름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ΔSmix ≥ 1R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1,292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조작적 정의 밖의 일반 합금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주조(AC)만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1,292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1,217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분말야금은 제조 경로가 다름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가공·열처리 없음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1,217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 직후 상태로 통일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충돌 제외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15종, 정답을 정할 수 없음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조성은 1행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관측 단위 = 조성 1종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이상치·결측 그대로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지울 근거 없음, 대치 안 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19" y="1371600"/>
            <a:ext cx="3139135" cy="214884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규칙 한 줄이 결론을 바꾸나?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7번 대신 ‘첫 행만 남기기’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n = 273, 정확도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78.7%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7번 사용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n = 258, 정확도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83.0%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19" y="3749039"/>
            <a:ext cx="3139135" cy="1783080"/>
          </a:xfrm>
          <a:prstGeom prst="roundRect">
            <a:avLst>
              <a:gd name="adj" fmla="val 8000"/>
            </a:avLst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변수 순위는 같지만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정확도는 4%p 차이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. 애매한 합금을 빼면 문제가 쉬워진다 — 83%는 ‘정답이 확실한 합금’에서의 성능이다.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44768"/>
            <a:ext cx="9997135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회색 행은 행을 지우지 않은 결정. 규칙은 모두 모델 결과를 보기 전에 정했다.</a:t>
            </a:r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기술통계   ·   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4450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spcAft>
                <a:spcPts val="600"/>
              </a:spcAft>
              <a:defRPr/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평균과 중앙값</a:t>
            </a:r>
            <a:r>
              <a:rPr lang="ko-KR" altLang="en-US"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 등을 시각화</a:t>
            </a:r>
            <a:endParaRPr lang="ko-KR" altLang="en-US" sz="2700" b="1">
              <a:solidFill>
                <a:srgbClr val="0b0b0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2" cy="3200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71897"/>
                <a:gridCol w="502216"/>
                <a:gridCol w="684840"/>
                <a:gridCol w="730496"/>
                <a:gridCol w="867464"/>
                <a:gridCol w="2374113"/>
                <a:gridCol w="2282801"/>
                <a:gridCol w="178058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변수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중앙값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표준편차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최솟값 (합금)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최댓값 (합금)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평균으로 요약?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원소 개수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(CoFeNi)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 (Al0.5CoCrCu0.5FeNiTi0.5)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0063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</a:t>
                      </a:r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대칭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6.09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3.46 (Al58.5Mg31.5…)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9.00 (CoFeNi)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B444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불가</a:t>
                      </a:r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봉우리 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원자 크기 차이 δ (%)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0.75 (CoFeNi)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16.86 (AlCCoCrFeNi)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0063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</a:t>
                      </a:r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꼬리 주의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전기음성도 차이 Δχ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0.03 (CoFeNi)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0.38 (HfNbTaTiZrMoW)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B444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중앙값</a:t>
                      </a:r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오른쪽 꼬리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ΔHmix (kJ/mol)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–7.54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–6.21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7.74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–39.45 (Mo0.5NbHf0.5ZrTiSi0.9)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4.16 (CoCrCuFeMn)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B444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중앙값</a:t>
                      </a:r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왼쪽 꼬리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ΔSmix (J/K·mol)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12.89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8.34 (Al58.5Mg31.5…)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16.18 (HfNbTaTiZrMoW)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B444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불가</a:t>
                      </a:r>
                      <a:r>
                        <a:rPr sz="12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봉우리 여럿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00600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ΔHmix: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왼쪽으로 꼬리가 긴 분포(왜도 –0.94). 강하게 음수인 소수 합금(대부분 금속간화합물)이 평균(–7.54)을 중앙값(–6.21)보다 꼬리 쪽으로 끌어간다.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44768"/>
            <a:ext cx="9997135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평균과 중앙값의 차이가 표준편차의 0.15배를 넘거나 봉우리가 둘 이상이면 평균 하나로 요약하지 않았다. 정제 후 결측 0건.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분포의 모양   ·   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그려 보기 전에는 모른다 — 히스토그램 (구간 25개)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5" name="Picture 4" descr="hist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340" y="1325880"/>
            <a:ext cx="7019013" cy="3520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983480"/>
            <a:ext cx="5410047" cy="105156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VEC는 이봉 분포.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평균 6.09 자리에는 합금이 거의 없다 —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평균이 빈자리를 가리킨다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. 두 집단이 섞였다는 신호 → 상별로 쪼갠다.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4983480"/>
            <a:ext cx="5410047" cy="105156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ΔSmix의 봉우리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는 11.5·13.4·14.9 = R·ln4·ln5·ln6.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4·5·6원소를 똑같은 비율로 섞은 합금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이 많다는 뜻이다.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9997135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검은 실선 = 평균, 주황 점선 = 중앙값. 원소 개수는 정수라 구간을 1 단위로 그렸다.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집단별 기술통계   ·   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상별로 쪼개면 VEC가 깔끔하게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5" name="Picture 4" descr="vec_by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565299"/>
            <a:ext cx="5760720" cy="29044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79" y="1371600"/>
          <a:ext cx="5059372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21818"/>
                <a:gridCol w="501379"/>
                <a:gridCol w="1321818"/>
                <a:gridCol w="774859"/>
                <a:gridCol w="113949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VEC 평균 (SD)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중앙값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ΔHmix 중앙값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BCC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5.03 (0.99)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–2.8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FCC+BCC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7.43 (0.49)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–7.8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FCC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8.12 (0.47)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–5.0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금속간화합물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6.79 (1.30)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–11.8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79" y="3474720"/>
            <a:ext cx="5059375" cy="114300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쪼개고 나니 각 상의 표준편차는 0.5~1.0으로 전체(1.53)보다 훨씬 작다. 경험 규칙(VEC &lt; 6.87 → BCC, ≥ 8 → FCC)과 일치.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79" y="4800600"/>
            <a:ext cx="5059375" cy="914400"/>
          </a:xfrm>
          <a:prstGeom prst="roundRect">
            <a:avLst>
              <a:gd name="adj" fmla="val 8000"/>
            </a:avLst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금속간화합물은 VEC가 넓게 퍼져(SD 1.30) 못 가른다. 대신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ΔHmix가 가장 음수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44768"/>
            <a:ext cx="9997135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점 하나 = 합금 1종, 검은 막대 = 중앙값, 주황 점선 = 문헌의 VEC 경계값.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탐색적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문헌의 고용체 조건도 금속간화합물을 다 걸러내지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5" name="Picture 4" descr="delta_dh_fac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084" y="1325880"/>
            <a:ext cx="9163526" cy="3246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709160"/>
            <a:ext cx="541004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70.6%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고용체(BCC·FCC·2상) 합금 중 영역 안에 든 비율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4709160"/>
            <a:ext cx="541004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41.0%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금속간화합물 중 영역 안에 든 비율 (걸러져야 할 합금)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44768"/>
            <a:ext cx="9997135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주황 점선 = Guo &amp; Liu(2011)의 고용체 형성 영역(δ ≤ 6.6%, –11.6 ≤ ΔHmix ≤ 3.2 kJ/mol). 파란 점 = 해당 상, 회색 점 = 나머지.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개념 · 교차검증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교차검증 — 시험을 다섯 번 나눠 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80160"/>
            <a:ext cx="9144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조각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13432" y="1280160"/>
            <a:ext cx="9144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조각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984" y="1280160"/>
            <a:ext cx="9144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조각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8536" y="1280160"/>
            <a:ext cx="9144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조각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088" y="1280160"/>
            <a:ext cx="9144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조각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1005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시험 정확도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28216"/>
            <a:ext cx="777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1회차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1691640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13432" y="1691640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0984" y="1691640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1691640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76088" y="1691640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709928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a1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203704"/>
            <a:ext cx="777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2회차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2167128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13432" y="2167128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00984" y="2167128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8536" y="2167128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76088" y="2167128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85416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a2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79192"/>
            <a:ext cx="777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3회차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5880" y="2642616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13432" y="2642616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00984" y="2642616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88536" y="2642616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76088" y="2642616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660904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a3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777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4회차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25880" y="3118104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13432" y="3118104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00984" y="3118104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8536" y="3118104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76088" y="3118104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136392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a4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630168"/>
            <a:ext cx="777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5회차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25880" y="3593592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13432" y="3593592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00984" y="3593592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88536" y="3593592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76088" y="3593592"/>
            <a:ext cx="914400" cy="402336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61188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a5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206240"/>
            <a:ext cx="182880" cy="182880"/>
          </a:xfrm>
          <a:prstGeom prst="rect">
            <a:avLst/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4160520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학습용 (약 206종)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4206240"/>
            <a:ext cx="182880" cy="182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82112" y="4160520"/>
            <a:ext cx="36576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시험용 (약 52종, 모델이 처음 보는 합금)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617720"/>
            <a:ext cx="6629400" cy="566928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7" bIns="64007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최종 성능 = (a1 + a2 + a3 + a4 + a5) ÷ 5  ± 표준편차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1371600"/>
            <a:ext cx="4099255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37744" indent="-237744">
              <a:spcAft>
                <a:spcPts val="800"/>
              </a:spcAft>
              <a:buClr>
                <a:srgbClr val="2A78D6"/>
              </a:buClr>
              <a:buChar char="•"/>
            </a:pP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왜 나누나: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공부한 문제로 시험 보면 100점. 처음 보는 합금으로 시험해야 진짜 실력이다</a:t>
            </a:r>
          </a:p>
          <a:p>
            <a:pPr algn="l" marL="237744" indent="-237744">
              <a:spcAft>
                <a:spcPts val="800"/>
              </a:spcAft>
              <a:buClr>
                <a:srgbClr val="2A78D6"/>
              </a:buClr>
              <a:buChar char="•"/>
            </a:pP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왜 다섯 번: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한 번만 나누면 쉬운 문제가 시험에 몰리는 ‘운’이 생긴다. 모든 합금이 한 번씩 시험에 나오게 돌린다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층화(stratified):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조각마다 상 비율(BCC 51%…)을 똑같이 맞춘다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4617720"/>
            <a:ext cx="4099255" cy="1051560"/>
          </a:xfrm>
          <a:prstGeom prst="roundRect">
            <a:avLst>
              <a:gd name="adj" fmla="val 8000"/>
            </a:avLst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SMOTE·전처리는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학습 조각 안에서만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. 시험 조각을 건드리면 점수가 부풀려진다(슬라이드 22).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예측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모델은 단순 규칙보다 26%p 더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pic>
        <p:nvPicPr>
          <p:cNvPr id="5" name="Picture 4" descr="model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9082"/>
            <a:ext cx="5852160" cy="328831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371600"/>
          <a:ext cx="4967934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9970"/>
                <a:gridCol w="1563979"/>
                <a:gridCol w="110398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(SD)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Macro F1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전부 BCC라고 찍기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50.8%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VEC 규칙 (기준선)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57.4%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로지스틱 회귀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75.2% (3.6)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랜덤포레스트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83.0% (4.4)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그래디언트 부스팅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78.3% (1.5)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75120" y="3886200"/>
            <a:ext cx="4967935" cy="118872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BCC가 51%라 정확도만 보면 과대평가된다 → 상마다 고르게 맞혔는지 보는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Macro F1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을 함께 보고한다.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44768"/>
            <a:ext cx="9997135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입력 변수 6개, 5-fold 층화 교차검증 평균. 괄호 = 5회의 표준편차(%p).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예측 모델 · 설명력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모델별 R² — 분류 모델에서는 ‘의사 R²’로 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pic>
        <p:nvPicPr>
          <p:cNvPr id="5" name="Picture 4" descr="pseudo_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6588"/>
            <a:ext cx="5760720" cy="33333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79" y="1371600"/>
            <a:ext cx="5059375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R²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는 숫자를 예측하는 회귀용 지표다. 상(범주)을 맞히는 분류에는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McFadden 의사 R²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를 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79" y="2148840"/>
            <a:ext cx="5059375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7" bIns="64007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R²(McF) = 1 – 모델의 로그손실 ÷ ‘비율대로 찍기’의 로그손실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2971800"/>
            <a:ext cx="5059375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0 = 상 비율대로 찍는 것과 같음, 1 = 완벽.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0.2~0.4만 돼도 좋은 편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랜덤포레스트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0.59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로 가장 높다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부스팅은 정확도(78%)가 로지스틱(75%)보다 높은데 R²는 낮다 →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틀릴 때 너무 확신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해서 감점이 크다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44768"/>
            <a:ext cx="9997135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로그손실: 정답에 준 확률이 낮을수록 커지는 벌점. 5-fold 교차검증의 시험 조각에서 계산.</a:t>
            </a: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개념 · 혼동행렬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혼동행렬 — ‘무엇을 무엇으로’ 틀렸는지 보는 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00" y="3712463"/>
            <a:ext cx="54864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spcAft>
                <a:spcPts val="600"/>
              </a:spcAft>
              <a:defRPr/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예: “FCC인가, 아닌가”만 볼 때</a:t>
            </a:r>
            <a:endParaRPr sz="1500" b="0">
              <a:solidFill>
                <a:srgbClr val="52514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079" y="4151375"/>
            <a:ext cx="20116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spcAft>
                <a:spcPts val="600"/>
              </a:spcAft>
              <a:defRPr/>
            </a:pPr>
            <a:r>
              <a:rPr sz="1200" b="1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FCC라고 예측</a:t>
            </a:r>
            <a:endParaRPr sz="1200" b="1">
              <a:solidFill>
                <a:srgbClr val="89878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06199" y="4151375"/>
            <a:ext cx="20116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spcAft>
                <a:spcPts val="600"/>
              </a:spcAft>
              <a:defRPr/>
            </a:pPr>
            <a:r>
              <a:rPr sz="1200" b="1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아니라고 예측</a:t>
            </a:r>
            <a:endParaRPr sz="1200" b="1">
              <a:solidFill>
                <a:srgbClr val="89878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00" y="4896612"/>
            <a:ext cx="12344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r">
              <a:spcAft>
                <a:spcPts val="600"/>
              </a:spcAft>
              <a:defRPr/>
            </a:pPr>
            <a:r>
              <a:rPr sz="1200" b="1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실제 FCC</a:t>
            </a:r>
            <a:endParaRPr sz="1200" b="1">
              <a:solidFill>
                <a:srgbClr val="89878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103079" y="4553712"/>
            <a:ext cx="2011680" cy="1051560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lvl="0" algn="ctr">
              <a:spcAft>
                <a:spcPts val="0"/>
              </a:spcAft>
              <a:defRPr/>
            </a:pPr>
            <a:r>
              <a:rPr sz="16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정답</a:t>
            </a:r>
            <a:endParaRPr sz="1600" b="1">
              <a:solidFill>
                <a:srgbClr val="1c5cab"/>
              </a:solidFill>
              <a:latin typeface="맑은 고딕"/>
              <a:ea typeface="맑은 고딕"/>
              <a:cs typeface="맑은 고딕"/>
            </a:endParaRPr>
          </a:p>
          <a:p>
            <a:pPr lvl="0" algn="ctr">
              <a:spcAft>
                <a:spcPts val="0"/>
              </a:spcAft>
              <a:defRPr/>
            </a:pPr>
            <a:r>
              <a:rPr sz="1400" b="0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맞게 찾음</a:t>
            </a:r>
            <a:endParaRPr sz="1400" b="0">
              <a:solidFill>
                <a:srgbClr val="1c5ca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06199" y="4553712"/>
            <a:ext cx="2011680" cy="1051560"/>
          </a:xfrm>
          <a:prstGeom prst="roundRect">
            <a:avLst>
              <a:gd name="adj" fmla="val 15000"/>
            </a:avLst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lvl="0" algn="ctr">
              <a:spcAft>
                <a:spcPts val="0"/>
              </a:spcAft>
              <a:defRPr/>
            </a:pPr>
            <a:r>
              <a:rPr sz="1600" b="1">
                <a:solidFill>
                  <a:srgbClr val="b4441a"/>
                </a:solidFill>
                <a:latin typeface="맑은 고딕"/>
                <a:ea typeface="맑은 고딕"/>
                <a:cs typeface="맑은 고딕"/>
              </a:rPr>
              <a:t>놓침</a:t>
            </a:r>
            <a:endParaRPr sz="1600" b="1">
              <a:solidFill>
                <a:srgbClr val="b4441a"/>
              </a:solidFill>
              <a:latin typeface="맑은 고딕"/>
              <a:ea typeface="맑은 고딕"/>
              <a:cs typeface="맑은 고딕"/>
            </a:endParaRPr>
          </a:p>
          <a:p>
            <a:pPr lvl="0" algn="ctr">
              <a:spcAft>
                <a:spcPts val="0"/>
              </a:spcAft>
              <a:defRPr/>
            </a:pPr>
            <a:r>
              <a:rPr sz="1400" b="0">
                <a:solidFill>
                  <a:srgbClr val="b4441a"/>
                </a:solidFill>
                <a:latin typeface="맑은 고딕"/>
                <a:ea typeface="맑은 고딕"/>
                <a:cs typeface="맑은 고딕"/>
              </a:rPr>
              <a:t>FCC인데 못 찾음</a:t>
            </a:r>
            <a:endParaRPr sz="1400" b="0">
              <a:solidFill>
                <a:srgbClr val="b444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00" y="6039612"/>
            <a:ext cx="12344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r">
              <a:spcAft>
                <a:spcPts val="600"/>
              </a:spcAft>
              <a:defRPr/>
            </a:pPr>
            <a:r>
              <a:rPr sz="1200" b="1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실제 FCC 아님</a:t>
            </a:r>
            <a:endParaRPr sz="1200" b="1">
              <a:solidFill>
                <a:srgbClr val="89878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03079" y="5696712"/>
            <a:ext cx="2011680" cy="1051560"/>
          </a:xfrm>
          <a:prstGeom prst="roundRect">
            <a:avLst>
              <a:gd name="adj" fmla="val 15000"/>
            </a:avLst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lvl="0" algn="ctr">
              <a:spcAft>
                <a:spcPts val="0"/>
              </a:spcAft>
              <a:defRPr/>
            </a:pPr>
            <a:r>
              <a:rPr sz="1600" b="1">
                <a:solidFill>
                  <a:srgbClr val="b4441a"/>
                </a:solidFill>
                <a:latin typeface="맑은 고딕"/>
                <a:ea typeface="맑은 고딕"/>
                <a:cs typeface="맑은 고딕"/>
              </a:rPr>
              <a:t>헛짚음</a:t>
            </a:r>
            <a:endParaRPr sz="1600" b="1">
              <a:solidFill>
                <a:srgbClr val="b4441a"/>
              </a:solidFill>
              <a:latin typeface="맑은 고딕"/>
              <a:ea typeface="맑은 고딕"/>
              <a:cs typeface="맑은 고딕"/>
            </a:endParaRPr>
          </a:p>
          <a:p>
            <a:pPr lvl="0" algn="ctr">
              <a:spcAft>
                <a:spcPts val="0"/>
              </a:spcAft>
              <a:defRPr/>
            </a:pPr>
            <a:r>
              <a:rPr sz="1400" b="0">
                <a:solidFill>
                  <a:srgbClr val="b4441a"/>
                </a:solidFill>
                <a:latin typeface="맑은 고딕"/>
                <a:ea typeface="맑은 고딕"/>
                <a:cs typeface="맑은 고딕"/>
              </a:rPr>
              <a:t>아닌데 FCC라고 함</a:t>
            </a:r>
            <a:endParaRPr sz="1400" b="0">
              <a:solidFill>
                <a:srgbClr val="b444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06199" y="5696712"/>
            <a:ext cx="2011680" cy="1051560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lvl="0" algn="ctr">
              <a:spcAft>
                <a:spcPts val="0"/>
              </a:spcAft>
              <a:defRPr/>
            </a:pPr>
            <a:r>
              <a:rPr sz="1600" b="1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정답</a:t>
            </a:r>
            <a:endParaRPr sz="1600" b="1">
              <a:solidFill>
                <a:srgbClr val="1c5cab"/>
              </a:solidFill>
              <a:latin typeface="맑은 고딕"/>
              <a:ea typeface="맑은 고딕"/>
              <a:cs typeface="맑은 고딕"/>
            </a:endParaRPr>
          </a:p>
          <a:p>
            <a:pPr lvl="0" algn="ctr">
              <a:spcAft>
                <a:spcPts val="0"/>
              </a:spcAft>
              <a:defRPr/>
            </a:pPr>
            <a:r>
              <a:rPr sz="1400" b="0">
                <a:solidFill>
                  <a:srgbClr val="1c5cab"/>
                </a:solidFill>
                <a:latin typeface="맑은 고딕"/>
                <a:ea typeface="맑은 고딕"/>
                <a:cs typeface="맑은 고딕"/>
              </a:rPr>
              <a:t>맞게 걸러냄</a:t>
            </a:r>
            <a:endParaRPr sz="1400" b="0">
              <a:solidFill>
                <a:srgbClr val="1c5ca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242255" cy="3017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행 = 실제 상, 열 = 예측한 상.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대각선이 진할수록 좋은 모델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재현율(recall):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실제 FCC 중 FCC로 찾아낸 비율 — 행 방향으로 읽는다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정밀도(precision):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FCC라고 한 것 중 진짜 FCC 비율 — 열 방향으로 읽는다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정확도 하나는 ‘어디서’ 틀렸는지 숨긴다. 혼동행렬은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틀린 방향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을 보여준다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572000"/>
            <a:ext cx="5242255" cy="82296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우리 문제는 상이 4개라 4×4 표가 된다. 다음 장에서 실제 결과를 읽는다.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77200" y="1328100"/>
            <a:ext cx="5623599" cy="23181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예측 결과 해석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무엇을 맞히고, 무엇을 틀렸나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pic>
        <p:nvPicPr>
          <p:cNvPr id="5" name="Picture 4" descr="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094" y="1325880"/>
            <a:ext cx="3781970" cy="3383280"/>
          </a:xfrm>
          <a:prstGeom prst="rect">
            <a:avLst/>
          </a:prstGeom>
        </p:spPr>
      </p:pic>
      <p:pic>
        <p:nvPicPr>
          <p:cNvPr id="6" name="Picture 5" descr="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652393"/>
            <a:ext cx="6065215" cy="27302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846320"/>
            <a:ext cx="11094415" cy="96012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BCC(89%)는 잘 맞히고, FCC+BCC 2상은 68%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— 22종뿐이라 배울 예가 적고, 틀린 것의 대부분(23%)은 금속간화합물로 갔다. 순열 중요도는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VEC가 압도적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, ΔHmix가 2위.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9997135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왼쪽: 혼동행렬(교차검증 예측, 행 = 실제 상, 재현율) · 오른쪽: 순열 중요도(변수 하나를 뒤섞었을 때 정확도가 떨어지는 정도, 5개 fold 평균).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개념 · 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SHAP — 예측 하나를 변수별 기여로 나눈다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이 합금의 BCC 확률 = 평균 확률 + VEC 몫 + ΔHmix 몫 + δ 몫 +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539496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37744" indent="-237744">
              <a:spcAft>
                <a:spcPts val="800"/>
              </a:spcAft>
              <a:buClr>
                <a:srgbClr val="2A78D6"/>
              </a:buClr>
              <a:buChar char="•"/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비유: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팀 프로젝트 점수를 팀원 기여도로 공정하게 나누기 (게임이론의 섀플리 값)</a:t>
            </a:r>
          </a:p>
          <a:p>
            <a:pPr algn="l" marL="237744" indent="-237744">
              <a:spcAft>
                <a:spcPts val="800"/>
              </a:spcAft>
              <a:buClr>
                <a:srgbClr val="2A78D6"/>
              </a:buClr>
              <a:buChar char="•"/>
            </a:pP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+ 값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이면 그 상 쪽으로 밀고,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– 값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이면 반대로 민다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합금 하나하나에 대해 계산 → 모으면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변수가 어느 방향으로 작용하는지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보인다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59" y="1371600"/>
          <a:ext cx="5333694" cy="28346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94110"/>
                <a:gridCol w="2069792"/>
                <a:gridCol w="206979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순열 중요도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SHAP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변수를 망가뜨리면 얼마나 틀리나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예측에 각 변수가 얼마나 기여했나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 (+/–)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앎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합금 하나 설명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상별로 따로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하나로 합쳐짐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상마다 따로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09359" y="4389120"/>
            <a:ext cx="5333695" cy="73152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두 방법을 함께 써서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순위가 같은지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교차 확인한다.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44768"/>
            <a:ext cx="9997135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SHAP은 ‘모델이 이렇게 판단했다’를 설명할 뿐, 자연 법칙을 증명하지는 않는다. Lundberg &amp; Lee (2017).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해석 · 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모델은 ‘두 갈림길’을 그대로 배웠다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5" name="Picture 4" descr="shap_depen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52" y="1325880"/>
            <a:ext cx="10983190" cy="32003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663440"/>
            <a:ext cx="3576218" cy="118872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VEC → FCC/BCC:</a:t>
            </a: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약 7.3 위에서 FCC 쪽(+), 약 6.9 위에서 BCC 반대쪽(–). 문헌 경계 6.87과 거의 같다.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4663440"/>
            <a:ext cx="3576218" cy="118872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ΔHmix → 금속간화합물:</a:t>
            </a: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약 –7 kJ/mol보다 음수일수록 Im 쪽(+). ‘원소끼리 너무 친하면 짝지어 뭉친다’.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4663440"/>
            <a:ext cx="3576218" cy="118872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순위 교차 확인:</a:t>
            </a:r>
            <a:r>
              <a:rPr sz="135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SHAP과 순열 중요도 모두 VEC → ΔHmix → δ → Δχ → ΔSmix → 원소 개수.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36208"/>
            <a:ext cx="9997135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점 하나 = 합금 1종. 세로축 = 그 변수가 해당 상 확률을 얼마나 올렸나(+)/내렸나(–). 258종 전체로 학습한 랜덤포레스트.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해석 · SHAP 개별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AlCoFeNi는 VEC 7.5인데 왜 BCC일까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pic>
        <p:nvPicPr>
          <p:cNvPr id="5" name="Picture 4" descr="shap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06607"/>
            <a:ext cx="6217920" cy="2496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79" y="1371600"/>
            <a:ext cx="4602175" cy="2377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VEC 7.5는 규칙상 BCC가 아니다 → SHAP도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–0.20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(BCC 반대)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그런데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원자 크기 차이 6.24%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(+0.15)와 Δχ·ΔHmix가 BCC 쪽으로 더 세게 밀었다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결과: BCC 확률 평균 0.51 →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0.71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, 실제로도 BCC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79" y="3931920"/>
            <a:ext cx="4602175" cy="128016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Al은 원자가 크다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→ δ가 커진다 → 빽빽한 FCC가 불편해져 BCC로. VEC 규칙의 예외(Al 합금)를 모델은 δ로 잡아냈다.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비판적 검토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참고 노트북의 높은 정확도는 부풀려진 숫자였다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pic>
        <p:nvPicPr>
          <p:cNvPr id="5" name="Picture 4" descr="smote_l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4150"/>
            <a:ext cx="6035040" cy="3118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463040"/>
            <a:ext cx="4785055" cy="2377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37744" indent="-237744">
              <a:spcAft>
                <a:spcPts val="800"/>
              </a:spcAft>
              <a:buClr>
                <a:srgbClr val="2A78D6"/>
              </a:buClr>
              <a:buChar char="•"/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SMOTE: 소수 상의 가짜 샘플을 만들어 불균형을 줄이는 기법</a:t>
            </a:r>
          </a:p>
          <a:p>
            <a:pPr algn="l" marL="237744" indent="-237744">
              <a:spcAft>
                <a:spcPts val="800"/>
              </a:spcAft>
              <a:buClr>
                <a:srgbClr val="2A78D6"/>
              </a:buClr>
              <a:buChar char="•"/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참고 노트북은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SMOTE를 먼저 하고 데이터를 나눴다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→ 시험 조각에 가짜 샘플이 섞임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같은 방식으로 재현하면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89%</a:t>
            </a: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, 올바르게 하면 </a:t>
            </a:r>
            <a:r>
              <a:rPr sz="15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83%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977639"/>
            <a:ext cx="4785055" cy="1463040"/>
          </a:xfrm>
          <a:prstGeom prst="roundRect">
            <a:avLst>
              <a:gd name="adj" fmla="val 8000"/>
            </a:avLst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2412" bIns="102412"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3주차의 교훈과 같다: 가짜 값을 끼워 넣으면 숫자가 실제보다 좋아 보인다 — </a:t>
            </a:r>
            <a:r>
              <a:rPr sz="14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평균 대치가 표준편차를 줄이는 것과 같은 구조</a:t>
            </a: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결론과 한계   ·   2주차 · 편향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이 데이터에는 누가 빠져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10047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2412" bIns="102412" wrap="square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발견한 것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열역학 변수 6개로 주조 직후 상을 </a:t>
            </a: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약 83%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맞힌다 (규칙 57%, 찍기 51%, 의사 R² 0.59)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VEC가 FCC/BCC를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ΔHmix가 금속간화합물을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가른다 — 기술통계·순열 중요도·SHAP이 같은 결론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VEC 규칙의 예외(Al 합금)는 </a:t>
            </a: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원자 크기 차이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가 설명한다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8" y="1380744"/>
            <a:ext cx="5410047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anchor="t"/>
          <a:lstStyle/>
          <a:p>
            <a:pPr lvl="0" algn="l">
              <a:spcAft>
                <a:spcPts val="800"/>
              </a:spcAft>
              <a:defRPr/>
            </a:pPr>
            <a:r>
              <a:rPr sz="18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한계 — 빠진 데이터</a:t>
            </a:r>
            <a:endParaRPr sz="1800" b="1">
              <a:solidFill>
                <a:srgbClr val="0b0b0b"/>
              </a:solidFill>
              <a:latin typeface="맑은 고딕"/>
              <a:ea typeface="맑은 고딕"/>
              <a:cs typeface="맑은 고딕"/>
            </a:endParaRPr>
          </a:p>
          <a:p>
            <a:pPr marL="237744" lvl="0" indent="-237744" algn="l">
              <a:spcAft>
                <a:spcPts val="600"/>
              </a:spcAft>
              <a:buClr>
                <a:srgbClr val="2a78d6"/>
              </a:buClr>
              <a:buChar char="•"/>
              <a:defRPr/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출판 편향: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논문에 실린 합금만 있다. 실패한 합금은 없다</a:t>
            </a:r>
            <a:endParaRPr sz="1300" b="0">
              <a:solidFill>
                <a:srgbClr val="52514e"/>
              </a:solidFill>
              <a:latin typeface="맑은 고딕"/>
              <a:ea typeface="맑은 고딕"/>
              <a:cs typeface="맑은 고딕"/>
            </a:endParaRPr>
          </a:p>
          <a:p>
            <a:pPr marL="237744" lvl="0" indent="-237744" algn="l">
              <a:spcAft>
                <a:spcPts val="600"/>
              </a:spcAft>
              <a:buClr>
                <a:srgbClr val="2a78d6"/>
              </a:buClr>
              <a:buChar char="•"/>
              <a:defRPr/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쉬운 문제 편향: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애매한 15종을 빼서 정확도가 4%p 높게 나왔다</a:t>
            </a:r>
            <a:endParaRPr sz="1300" b="0">
              <a:solidFill>
                <a:srgbClr val="52514e"/>
              </a:solidFill>
              <a:latin typeface="맑은 고딕"/>
              <a:ea typeface="맑은 고딕"/>
              <a:cs typeface="맑은 고딕"/>
            </a:endParaRPr>
          </a:p>
          <a:p>
            <a:pPr marL="237744" lvl="0" indent="-237744" algn="l">
              <a:spcAft>
                <a:spcPts val="600"/>
              </a:spcAft>
              <a:buClr>
                <a:srgbClr val="2a78d6"/>
              </a:buClr>
              <a:buChar char="•"/>
              <a:defRPr/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범위: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주조 직후만. 열처리 후 상은 말할 수 없다</a:t>
            </a:r>
            <a:endParaRPr sz="1300" b="0">
              <a:solidFill>
                <a:srgbClr val="52514e"/>
              </a:solidFill>
              <a:latin typeface="맑은 고딕"/>
              <a:ea typeface="맑은 고딕"/>
              <a:cs typeface="맑은 고딕"/>
            </a:endParaRPr>
          </a:p>
          <a:p>
            <a:pPr marL="237744" lvl="0" indent="-237744" algn="l">
              <a:spcAft>
                <a:spcPts val="600"/>
              </a:spcAft>
              <a:buClr>
                <a:srgbClr val="2a78d6"/>
              </a:buClr>
              <a:buChar char="•"/>
              <a:defRPr/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검증하지 못한 값: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VEC·Δχ 오류는 고쳤지만, 표기가 애매한 17행</a:t>
            </a:r>
            <a:r>
              <a:rPr lang="en-US" altLang="ko-KR"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NbTaTi30Zr</a:t>
            </a:r>
            <a:r>
              <a:rPr lang="ko-KR" altLang="en-US"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등</a:t>
            </a:r>
            <a:r>
              <a:rPr lang="en-US" altLang="ko-KR"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과 ΔHmix·δ(원소 쌍 표 필요)는 재계산하지 못했다 — 오류가 남아 있을 수 있다</a:t>
            </a:r>
            <a:endParaRPr sz="1300" b="0">
              <a:solidFill>
                <a:srgbClr val="52514e"/>
              </a:solidFill>
              <a:latin typeface="맑은 고딕"/>
              <a:ea typeface="맑은 고딕"/>
              <a:cs typeface="맑은 고딕"/>
            </a:endParaRPr>
          </a:p>
          <a:p>
            <a:pPr marL="237744" lvl="0" indent="-237744" algn="l">
              <a:spcAft>
                <a:spcPts val="600"/>
              </a:spcAft>
              <a:buClr>
                <a:srgbClr val="2a78d6"/>
              </a:buClr>
              <a:buChar char="•"/>
              <a:defRPr/>
            </a:pPr>
            <a:r>
              <a:rPr sz="13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이름이 맞다는 전제:</a:t>
            </a: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 모든 검증의 기준인 합금 이름을 원 논문과 직접 대조하지는 않았다</a:t>
            </a:r>
            <a:endParaRPr sz="1300" b="0">
              <a:solidFill>
                <a:srgbClr val="52514e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출처와 AI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맑은 고딕"/>
                <a:ea typeface="맑은 고딕"/>
                <a:cs typeface="맑은 고딕"/>
              </a:rPr>
              <a:t>데이터·참고 자료와 분석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37376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94960" cy="4389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37744" indent="-237744">
              <a:spcAft>
                <a:spcPts val="800"/>
              </a:spcAft>
              <a:buClr>
                <a:srgbClr val="2A78D6"/>
              </a:buClr>
              <a:buChar char="•"/>
            </a:pP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R. Machaka, “Machine learning-based prediction of phases in high-entropy alloys: A data article,” Data in Brief 38 (2021) 107346. PMC8477136 · Mendeley Data</a:t>
            </a:r>
          </a:p>
          <a:p>
            <a:pPr algn="l" marL="237744" indent="-237744">
              <a:spcAft>
                <a:spcPts val="800"/>
              </a:spcAft>
              <a:buClr>
                <a:srgbClr val="2A78D6"/>
              </a:buClr>
              <a:buChar char="•"/>
            </a:pP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E. Özcan, “High Entropy Alloys EDA and ML,” Kaggle Notebook (분석 흐름 참고)</a:t>
            </a:r>
          </a:p>
          <a:p>
            <a:pPr algn="l" marL="237744" indent="-237744">
              <a:spcAft>
                <a:spcPts val="800"/>
              </a:spcAft>
              <a:buClr>
                <a:srgbClr val="2A78D6"/>
              </a:buClr>
              <a:buChar char="•"/>
            </a:pP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S. Guo, C. T. Liu, Prog. Nat. Sci.: Mater. Int. 21 (2011) 433–446 (고용체 기준, VEC 경계)</a:t>
            </a:r>
          </a:p>
          <a:p>
            <a:pPr algn="l" marL="237744" indent="-237744">
              <a:spcAft>
                <a:spcPts val="800"/>
              </a:spcAft>
              <a:buClr>
                <a:srgbClr val="2A78D6"/>
              </a:buClr>
              <a:buChar char="•"/>
            </a:pP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S. M. Lundberg, S.-I. Lee, “A Unified Approach to Interpreting Model Predictions,” NeurIPS (2017) (SHAP)</a:t>
            </a:r>
          </a:p>
          <a:p>
            <a:pPr algn="l" marL="237744" indent="-237744">
              <a:spcAft>
                <a:spcPts val="600"/>
              </a:spcAft>
              <a:buClr>
                <a:srgbClr val="2A78D6"/>
              </a:buClr>
              <a:buChar char="•"/>
            </a:pP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코드·데이터·정제 로그: github.com/jungdaeun1018-ship-it/hea-phase-prediction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371600"/>
          <a:ext cx="5425133" cy="285292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61132"/>
                <a:gridCol w="1980604"/>
                <a:gridCol w="2583397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AI(Claude Code)에게 맡긴 것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9878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사람이 판단한 것</a:t>
                      </a:r>
                    </a:p>
                  </a:txBody>
                  <a:tcPr marL="64008" marR="64008" marT="27432" marB="27432" anchor="ctr">
                    <a:solidFill>
                      <a:srgbClr val="F0EF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주제·질문·조작적 정의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 작성, 계산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“고치지 말고 보고만”, “중앙값·분포 함께”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재계산·교차검증·SHAP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링크 직접 확인, 이름으로 값 대조, 행 수 비교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1E0D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1762</ep:Words>
  <ep:PresentationFormat>On-screen Show (4:3)</ep:PresentationFormat>
  <ep:Paragraphs>276</ep:Paragraphs>
  <ep:Slides>24</ep:Slides>
  <ep:Notes>24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ep:HeadingPairs>
  <ep:TitlesOfParts>
    <vt:vector size="2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BB_PC</cp:lastModifiedBy>
  <dcterms:modified xsi:type="dcterms:W3CDTF">2026-10-23T14:49:26.925</dcterms:modified>
  <cp:revision>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